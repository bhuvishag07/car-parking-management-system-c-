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59" r:id="rId4"/>
    <p:sldId id="260" r:id="rId5"/>
    <p:sldId id="261" r:id="rId6"/>
    <p:sldId id="258" r:id="rId7"/>
  </p:sldIdLst>
  <p:sldSz cx="9144000" cy="5143500" type="screen16x9"/>
  <p:notesSz cx="9144000" cy="51435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C7BFF87-DFF1-4A8C-81D5-29140F17CC9C}" v="742" dt="2026-03-10T16:07:15.685"/>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880"/>
        <p:guide pos="2160"/>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microsoft.com/office/2015/10/relationships/revisionInfo" Target="revisionInfo.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685800" y="1594485"/>
            <a:ext cx="7772400" cy="1080135"/>
          </a:xfrm>
          <a:prstGeom prst="rect">
            <a:avLst/>
          </a:prstGeom>
        </p:spPr>
        <p:txBody>
          <a:bodyPr wrap="square" lIns="0" tIns="0" rIns="0" bIns="0">
            <a:spAutoFit/>
          </a:bodyPr>
          <a:lstStyle>
            <a:lvl1pPr>
              <a:defRPr sz="2500" b="1" i="0">
                <a:solidFill>
                  <a:srgbClr val="A81B50"/>
                </a:solidFill>
                <a:latin typeface="Arial"/>
                <a:cs typeface="Arial"/>
              </a:defRPr>
            </a:lvl1pPr>
          </a:lstStyle>
          <a:p>
            <a:endParaRPr/>
          </a:p>
        </p:txBody>
      </p:sp>
      <p:sp>
        <p:nvSpPr>
          <p:cNvPr id="3" name="Holder 3"/>
          <p:cNvSpPr>
            <a:spLocks noGrp="1"/>
          </p:cNvSpPr>
          <p:nvPr>
            <p:ph type="subTitle" idx="4"/>
          </p:nvPr>
        </p:nvSpPr>
        <p:spPr>
          <a:xfrm>
            <a:off x="1371600" y="2880360"/>
            <a:ext cx="6400800" cy="1285875"/>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3/10/2026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500" b="1" i="0">
                <a:solidFill>
                  <a:srgbClr val="A81B50"/>
                </a:solidFill>
                <a:latin typeface="Arial"/>
                <a:cs typeface="Arial"/>
              </a:defRPr>
            </a:lvl1pPr>
          </a:lstStyle>
          <a:p>
            <a:endParaRPr/>
          </a:p>
        </p:txBody>
      </p:sp>
      <p:sp>
        <p:nvSpPr>
          <p:cNvPr id="3" name="Holder 3"/>
          <p:cNvSpPr>
            <a:spLocks noGrp="1"/>
          </p:cNvSpPr>
          <p:nvPr>
            <p:ph type="body" idx="1"/>
          </p:nvPr>
        </p:nvSpPr>
        <p:spPr/>
        <p:txBody>
          <a:bodyPr lIns="0" tIns="0" rIns="0" bIns="0"/>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3/10/2026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500" b="1" i="0">
                <a:solidFill>
                  <a:srgbClr val="A81B50"/>
                </a:solidFill>
                <a:latin typeface="Arial"/>
                <a:cs typeface="Arial"/>
              </a:defRPr>
            </a:lvl1pPr>
          </a:lstStyle>
          <a:p>
            <a:endParaRPr/>
          </a:p>
        </p:txBody>
      </p:sp>
      <p:sp>
        <p:nvSpPr>
          <p:cNvPr id="3" name="Holder 3"/>
          <p:cNvSpPr>
            <a:spLocks noGrp="1"/>
          </p:cNvSpPr>
          <p:nvPr>
            <p:ph sz="half" idx="2"/>
          </p:nvPr>
        </p:nvSpPr>
        <p:spPr>
          <a:xfrm>
            <a:off x="457200" y="1183005"/>
            <a:ext cx="3977640" cy="339471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709160" y="1183005"/>
            <a:ext cx="3977640" cy="339471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3/10/2026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500" b="1" i="0">
                <a:solidFill>
                  <a:srgbClr val="A81B50"/>
                </a:solidFill>
                <a:latin typeface="Arial"/>
                <a:cs typeface="Arial"/>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3/10/2026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3/10/2026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9144000" cy="5143500"/>
          </a:xfrm>
          <a:custGeom>
            <a:avLst/>
            <a:gdLst/>
            <a:ahLst/>
            <a:cxnLst/>
            <a:rect l="l" t="t" r="r" b="b"/>
            <a:pathLst>
              <a:path w="9144000" h="5143500">
                <a:moveTo>
                  <a:pt x="9143999" y="5143499"/>
                </a:moveTo>
                <a:lnTo>
                  <a:pt x="0" y="5143499"/>
                </a:lnTo>
                <a:lnTo>
                  <a:pt x="0" y="0"/>
                </a:lnTo>
                <a:lnTo>
                  <a:pt x="9143999" y="0"/>
                </a:lnTo>
                <a:lnTo>
                  <a:pt x="9143999" y="5143499"/>
                </a:lnTo>
                <a:close/>
              </a:path>
            </a:pathLst>
          </a:custGeom>
          <a:solidFill>
            <a:srgbClr val="A81B50"/>
          </a:solidFill>
        </p:spPr>
        <p:txBody>
          <a:bodyPr wrap="square" lIns="0" tIns="0" rIns="0" bIns="0" rtlCol="0"/>
          <a:lstStyle/>
          <a:p>
            <a:endParaRPr/>
          </a:p>
        </p:txBody>
      </p:sp>
      <p:sp>
        <p:nvSpPr>
          <p:cNvPr id="2" name="Holder 2"/>
          <p:cNvSpPr>
            <a:spLocks noGrp="1"/>
          </p:cNvSpPr>
          <p:nvPr>
            <p:ph type="title"/>
          </p:nvPr>
        </p:nvSpPr>
        <p:spPr>
          <a:xfrm>
            <a:off x="384725" y="505248"/>
            <a:ext cx="861060" cy="409575"/>
          </a:xfrm>
          <a:prstGeom prst="rect">
            <a:avLst/>
          </a:prstGeom>
        </p:spPr>
        <p:txBody>
          <a:bodyPr wrap="square" lIns="0" tIns="0" rIns="0" bIns="0">
            <a:spAutoFit/>
          </a:bodyPr>
          <a:lstStyle>
            <a:lvl1pPr>
              <a:defRPr sz="2500" b="1" i="0">
                <a:solidFill>
                  <a:srgbClr val="A81B50"/>
                </a:solidFill>
                <a:latin typeface="Arial"/>
                <a:cs typeface="Arial"/>
              </a:defRPr>
            </a:lvl1pPr>
          </a:lstStyle>
          <a:p>
            <a:endParaRPr/>
          </a:p>
        </p:txBody>
      </p:sp>
      <p:sp>
        <p:nvSpPr>
          <p:cNvPr id="3" name="Holder 3"/>
          <p:cNvSpPr>
            <a:spLocks noGrp="1"/>
          </p:cNvSpPr>
          <p:nvPr>
            <p:ph type="body" idx="1"/>
          </p:nvPr>
        </p:nvSpPr>
        <p:spPr>
          <a:xfrm>
            <a:off x="457200" y="1183005"/>
            <a:ext cx="8229600" cy="339471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3108960" y="4783455"/>
            <a:ext cx="2926080" cy="257175"/>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457200" y="4783455"/>
            <a:ext cx="2103120" cy="257175"/>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3/10/2026</a:t>
            </a:fld>
            <a:endParaRPr lang="en-US"/>
          </a:p>
        </p:txBody>
      </p:sp>
      <p:sp>
        <p:nvSpPr>
          <p:cNvPr id="6" name="Holder 6"/>
          <p:cNvSpPr>
            <a:spLocks noGrp="1"/>
          </p:cNvSpPr>
          <p:nvPr>
            <p:ph type="sldNum" sz="quarter" idx="7"/>
          </p:nvPr>
        </p:nvSpPr>
        <p:spPr>
          <a:xfrm>
            <a:off x="6583680" y="4783455"/>
            <a:ext cx="2103120" cy="257175"/>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386148" y="2345389"/>
            <a:ext cx="4265234" cy="4583947"/>
          </a:xfrm>
          <a:prstGeom prst="rect">
            <a:avLst/>
          </a:prstGeom>
        </p:spPr>
        <p:txBody>
          <a:bodyPr vert="horz" wrap="square" lIns="0" tIns="46355" rIns="0" bIns="0" rtlCol="0" anchor="t">
            <a:spAutoFit/>
          </a:bodyPr>
          <a:lstStyle/>
          <a:p>
            <a:pPr algn="ctr">
              <a:spcBef>
                <a:spcPts val="365"/>
              </a:spcBef>
            </a:pPr>
            <a:r>
              <a:rPr lang="en-US" sz="2400" b="1">
                <a:solidFill>
                  <a:srgbClr val="FFFFFF"/>
                </a:solidFill>
                <a:latin typeface="Arial"/>
                <a:cs typeface="Arial"/>
              </a:rPr>
              <a:t>CAR PARKING MANAGEMENT SYSTEM </a:t>
            </a:r>
          </a:p>
          <a:p>
            <a:pPr algn="ctr">
              <a:spcBef>
                <a:spcPts val="365"/>
              </a:spcBef>
            </a:pPr>
            <a:r>
              <a:rPr lang="en-US" sz="2400" b="1">
                <a:solidFill>
                  <a:srgbClr val="FFFFFF"/>
                </a:solidFill>
                <a:latin typeface="Arial"/>
                <a:cs typeface="Arial"/>
              </a:rPr>
              <a:t>by</a:t>
            </a:r>
          </a:p>
          <a:p>
            <a:pPr algn="ctr">
              <a:spcBef>
                <a:spcPts val="365"/>
              </a:spcBef>
            </a:pPr>
            <a:r>
              <a:rPr lang="en-US" sz="2000" b="1">
                <a:solidFill>
                  <a:srgbClr val="FFFFFF"/>
                </a:solidFill>
                <a:latin typeface="Arial"/>
                <a:cs typeface="Arial"/>
              </a:rPr>
              <a:t>BHUVISHA GOHIL</a:t>
            </a:r>
          </a:p>
          <a:p>
            <a:pPr algn="ctr">
              <a:spcBef>
                <a:spcPts val="365"/>
              </a:spcBef>
            </a:pPr>
            <a:r>
              <a:rPr lang="en-US" sz="2000" b="1">
                <a:solidFill>
                  <a:srgbClr val="FFFFFF"/>
                </a:solidFill>
                <a:latin typeface="Arial"/>
                <a:cs typeface="Arial"/>
              </a:rPr>
              <a:t>150096725190 </a:t>
            </a:r>
          </a:p>
          <a:p>
            <a:pPr algn="ctr">
              <a:spcBef>
                <a:spcPts val="365"/>
              </a:spcBef>
            </a:pPr>
            <a:endParaRPr lang="en-US" sz="2400" b="1">
              <a:solidFill>
                <a:srgbClr val="FFFFFF"/>
              </a:solidFill>
              <a:latin typeface="Arial"/>
              <a:cs typeface="Arial"/>
            </a:endParaRPr>
          </a:p>
          <a:p>
            <a:pPr algn="ctr">
              <a:spcBef>
                <a:spcPts val="365"/>
              </a:spcBef>
            </a:pPr>
            <a:endParaRPr lang="en-US" sz="2400" b="1">
              <a:solidFill>
                <a:srgbClr val="FFFFFF"/>
              </a:solidFill>
              <a:latin typeface="Arial"/>
              <a:cs typeface="Arial"/>
            </a:endParaRPr>
          </a:p>
          <a:p>
            <a:pPr algn="ctr">
              <a:spcBef>
                <a:spcPts val="365"/>
              </a:spcBef>
            </a:pPr>
            <a:endParaRPr lang="en-US" sz="2400" b="1">
              <a:solidFill>
                <a:srgbClr val="FFFFFF"/>
              </a:solidFill>
              <a:latin typeface="Arial"/>
              <a:cs typeface="Arial"/>
            </a:endParaRPr>
          </a:p>
          <a:p>
            <a:pPr algn="ctr">
              <a:lnSpc>
                <a:spcPct val="100000"/>
              </a:lnSpc>
              <a:spcBef>
                <a:spcPts val="365"/>
              </a:spcBef>
            </a:pPr>
            <a:endParaRPr lang="en-US" sz="2400" b="1">
              <a:solidFill>
                <a:srgbClr val="FFFFFF"/>
              </a:solidFill>
              <a:latin typeface="Arial"/>
              <a:cs typeface="Arial"/>
            </a:endParaRPr>
          </a:p>
          <a:p>
            <a:pPr algn="ctr">
              <a:spcBef>
                <a:spcPts val="365"/>
              </a:spcBef>
            </a:pPr>
            <a:endParaRPr lang="en-US" sz="2400" b="1">
              <a:solidFill>
                <a:srgbClr val="FFFFFF"/>
              </a:solidFill>
              <a:latin typeface="Arial"/>
              <a:cs typeface="Arial"/>
            </a:endParaRPr>
          </a:p>
          <a:p>
            <a:pPr algn="ctr">
              <a:spcBef>
                <a:spcPts val="365"/>
              </a:spcBef>
            </a:pPr>
            <a:endParaRPr lang="en-US" sz="2400" b="1">
              <a:solidFill>
                <a:srgbClr val="FFFFFF"/>
              </a:solidFill>
              <a:latin typeface="Arial"/>
              <a:cs typeface="Arial"/>
            </a:endParaRPr>
          </a:p>
          <a:p>
            <a:pPr algn="ctr">
              <a:spcBef>
                <a:spcPts val="110"/>
              </a:spcBef>
            </a:pPr>
            <a:endParaRPr lang="en-US" sz="800" b="1">
              <a:solidFill>
                <a:srgbClr val="FFFFFF"/>
              </a:solidFill>
              <a:latin typeface="Arial"/>
              <a:cs typeface="Arial"/>
            </a:endParaRPr>
          </a:p>
        </p:txBody>
      </p:sp>
      <p:pic>
        <p:nvPicPr>
          <p:cNvPr id="3" name="object 3"/>
          <p:cNvPicPr/>
          <p:nvPr/>
        </p:nvPicPr>
        <p:blipFill>
          <a:blip r:embed="rId2" cstate="print"/>
          <a:stretch>
            <a:fillRect/>
          </a:stretch>
        </p:blipFill>
        <p:spPr>
          <a:xfrm>
            <a:off x="2662237" y="685396"/>
            <a:ext cx="3819524" cy="1200149"/>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object 3"/>
          <p:cNvSpPr txBox="1"/>
          <p:nvPr/>
        </p:nvSpPr>
        <p:spPr>
          <a:xfrm>
            <a:off x="390020" y="669023"/>
            <a:ext cx="7805780" cy="3151620"/>
          </a:xfrm>
          <a:prstGeom prst="rect">
            <a:avLst/>
          </a:prstGeom>
          <a:ln>
            <a:solidFill>
              <a:schemeClr val="bg1"/>
            </a:solidFill>
          </a:ln>
        </p:spPr>
        <p:txBody>
          <a:bodyPr vert="horz" wrap="square" lIns="0" tIns="53340" rIns="0" bIns="0" rtlCol="0" anchor="t">
            <a:spAutoFit/>
          </a:bodyPr>
          <a:lstStyle/>
          <a:p>
            <a:pPr marL="431800" indent="-419100">
              <a:lnSpc>
                <a:spcPct val="100000"/>
              </a:lnSpc>
              <a:spcBef>
                <a:spcPts val="420"/>
              </a:spcBef>
              <a:buAutoNum type="arabicPeriod"/>
              <a:tabLst>
                <a:tab pos="431800" algn="l"/>
              </a:tabLst>
            </a:pPr>
            <a:endParaRPr lang="en-US" sz="1800" spc="-10">
              <a:solidFill>
                <a:srgbClr val="595959"/>
              </a:solidFill>
              <a:latin typeface="Arial MT"/>
              <a:cs typeface="Arial MT"/>
            </a:endParaRPr>
          </a:p>
        </p:txBody>
      </p:sp>
      <p:pic>
        <p:nvPicPr>
          <p:cNvPr id="5" name="object 5"/>
          <p:cNvPicPr/>
          <p:nvPr/>
        </p:nvPicPr>
        <p:blipFill>
          <a:blip r:embed="rId2" cstate="print"/>
          <a:stretch>
            <a:fillRect/>
          </a:stretch>
        </p:blipFill>
        <p:spPr>
          <a:xfrm>
            <a:off x="7914199" y="3992273"/>
            <a:ext cx="918099" cy="884252"/>
          </a:xfrm>
          <a:prstGeom prst="rect">
            <a:avLst/>
          </a:prstGeom>
        </p:spPr>
      </p:pic>
      <p:sp>
        <p:nvSpPr>
          <p:cNvPr id="7" name="Title 6">
            <a:extLst>
              <a:ext uri="{FF2B5EF4-FFF2-40B4-BE49-F238E27FC236}">
                <a16:creationId xmlns:a16="http://schemas.microsoft.com/office/drawing/2014/main" id="{BB87034B-05A9-3D1D-87AC-1E7501E03E1D}"/>
              </a:ext>
            </a:extLst>
          </p:cNvPr>
          <p:cNvSpPr>
            <a:spLocks noGrp="1"/>
          </p:cNvSpPr>
          <p:nvPr>
            <p:ph type="title"/>
          </p:nvPr>
        </p:nvSpPr>
        <p:spPr>
          <a:xfrm>
            <a:off x="388807" y="158266"/>
            <a:ext cx="6020888" cy="384721"/>
          </a:xfrm>
        </p:spPr>
        <p:txBody>
          <a:bodyPr wrap="square" lIns="0" tIns="0" rIns="0" bIns="0" anchor="t">
            <a:spAutoFit/>
          </a:bodyPr>
          <a:lstStyle/>
          <a:p>
            <a:pPr marL="457200" indent="-457200">
              <a:buAutoNum type="arabicPeriod"/>
            </a:pPr>
            <a:r>
              <a:rPr lang="en-US"/>
              <a:t>Problem Statement </a:t>
            </a:r>
          </a:p>
        </p:txBody>
      </p:sp>
      <p:sp>
        <p:nvSpPr>
          <p:cNvPr id="8" name="TextBox 7">
            <a:extLst>
              <a:ext uri="{FF2B5EF4-FFF2-40B4-BE49-F238E27FC236}">
                <a16:creationId xmlns:a16="http://schemas.microsoft.com/office/drawing/2014/main" id="{402A5391-00B8-9195-B5E0-752203E95281}"/>
              </a:ext>
            </a:extLst>
          </p:cNvPr>
          <p:cNvSpPr txBox="1"/>
          <p:nvPr/>
        </p:nvSpPr>
        <p:spPr>
          <a:xfrm>
            <a:off x="559253" y="669472"/>
            <a:ext cx="5964907" cy="36009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1200"/>
              <a:t>Parking management has become an important issue in busy places such as shopping malls, offices, universities, and public areas. When parking is managed manually, it can lead to several problems such as difficulty in tracking available parking slots, confusion in assigning slots to vehicles, and errors in calculating parking charges.</a:t>
            </a:r>
            <a:endParaRPr lang="en-US"/>
          </a:p>
          <a:p>
            <a:pPr algn="l"/>
            <a:r>
              <a:rPr lang="en-US" sz="1200"/>
              <a:t>Manual systems also make it hard to maintain proper records of vehicles entering and leaving the parking area. This can cause inefficiency and delay in managing parking operations.</a:t>
            </a:r>
            <a:endParaRPr lang="en-US"/>
          </a:p>
          <a:p>
            <a:pPr algn="l"/>
            <a:r>
              <a:rPr lang="en-US" sz="1200"/>
              <a:t>To solve these problems, a </a:t>
            </a:r>
            <a:r>
              <a:rPr lang="en-US" sz="1200" b="1"/>
              <a:t>Car Parking Management System</a:t>
            </a:r>
            <a:r>
              <a:rPr lang="en-US" sz="1200"/>
              <a:t> is developed using the </a:t>
            </a:r>
            <a:r>
              <a:rPr lang="en-US" sz="1200" b="1"/>
              <a:t>C++ programming language</a:t>
            </a:r>
            <a:r>
              <a:rPr lang="en-US" sz="1200"/>
              <a:t>. The system automates the process of parking slot allocation, vehicle tracking, and parking fee calculation.</a:t>
            </a:r>
            <a:endParaRPr lang="en-US"/>
          </a:p>
          <a:p>
            <a:pPr algn="l"/>
            <a:r>
              <a:rPr lang="en-US" sz="1200"/>
              <a:t>The system aims to provide a simple and efficient solution that can:</a:t>
            </a:r>
            <a:endParaRPr lang="en-US"/>
          </a:p>
          <a:p>
            <a:pPr marL="342900" indent="-342900" algn="l">
              <a:buChar char="•"/>
            </a:pPr>
            <a:r>
              <a:rPr lang="en-US" sz="1200"/>
              <a:t>Automatically allocate available parking slots</a:t>
            </a:r>
            <a:endParaRPr lang="en-US"/>
          </a:p>
          <a:p>
            <a:pPr marL="342900" indent="-342900" algn="l">
              <a:buChar char="•"/>
            </a:pPr>
            <a:r>
              <a:rPr lang="en-US" sz="1200"/>
              <a:t>Keep track of vehicles entering the parking area</a:t>
            </a:r>
            <a:endParaRPr lang="en-US"/>
          </a:p>
          <a:p>
            <a:pPr marL="342900" indent="-342900" algn="l">
              <a:buChar char="•"/>
            </a:pPr>
            <a:r>
              <a:rPr lang="en-US" sz="1200"/>
              <a:t>Record entry and exit time of vehicles</a:t>
            </a:r>
            <a:endParaRPr lang="en-US"/>
          </a:p>
          <a:p>
            <a:pPr marL="342900" indent="-342900" algn="l">
              <a:buChar char="•"/>
            </a:pPr>
            <a:r>
              <a:rPr lang="en-US" sz="1200"/>
              <a:t>Calculate parking fees based on parking duration</a:t>
            </a:r>
            <a:endParaRPr lang="en-US"/>
          </a:p>
          <a:p>
            <a:pPr marL="342900" indent="-342900" algn="l">
              <a:buChar char="•"/>
            </a:pPr>
            <a:r>
              <a:rPr lang="en-US" sz="1200"/>
              <a:t>Display the status of parking slots</a:t>
            </a:r>
            <a:endParaRPr lang="en-US"/>
          </a:p>
          <a:p>
            <a:pPr algn="l"/>
            <a:r>
              <a:rPr lang="en-US" sz="1200"/>
              <a:t>This system helps in improving parking management and reducing manual work.</a:t>
            </a:r>
            <a:endParaRPr lang="en-US"/>
          </a:p>
          <a:p>
            <a:endParaRPr lang="en-US" sz="12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B90B47-C9D4-F473-B000-A7D8361E5153}"/>
              </a:ext>
            </a:extLst>
          </p:cNvPr>
          <p:cNvSpPr>
            <a:spLocks noGrp="1"/>
          </p:cNvSpPr>
          <p:nvPr>
            <p:ph type="title"/>
          </p:nvPr>
        </p:nvSpPr>
        <p:spPr>
          <a:xfrm>
            <a:off x="384725" y="3145"/>
            <a:ext cx="7719059" cy="388803"/>
          </a:xfrm>
        </p:spPr>
        <p:txBody>
          <a:bodyPr wrap="square" lIns="0" tIns="0" rIns="0" bIns="0" anchor="t">
            <a:spAutoFit/>
          </a:bodyPr>
          <a:lstStyle/>
          <a:p>
            <a:r>
              <a:rPr lang="en-US"/>
              <a:t>2. Solution </a:t>
            </a:r>
          </a:p>
        </p:txBody>
      </p:sp>
      <p:sp>
        <p:nvSpPr>
          <p:cNvPr id="3" name="Text Placeholder 2">
            <a:extLst>
              <a:ext uri="{FF2B5EF4-FFF2-40B4-BE49-F238E27FC236}">
                <a16:creationId xmlns:a16="http://schemas.microsoft.com/office/drawing/2014/main" id="{2F39E4A3-6CCC-9BCF-2730-BE1FBAC1E88B}"/>
              </a:ext>
            </a:extLst>
          </p:cNvPr>
          <p:cNvSpPr>
            <a:spLocks noGrp="1"/>
          </p:cNvSpPr>
          <p:nvPr>
            <p:ph type="body" idx="1"/>
          </p:nvPr>
        </p:nvSpPr>
        <p:spPr>
          <a:xfrm>
            <a:off x="598968" y="603594"/>
            <a:ext cx="6485863" cy="3508653"/>
          </a:xfrm>
        </p:spPr>
        <p:txBody>
          <a:bodyPr wrap="square" lIns="0" tIns="0" rIns="0" bIns="0" anchor="t">
            <a:spAutoFit/>
          </a:bodyPr>
          <a:lstStyle/>
          <a:p>
            <a:pPr algn="l"/>
            <a:r>
              <a:rPr lang="en-US" sz="1200">
                <a:ea typeface="+mn-lt"/>
                <a:cs typeface="+mn-lt"/>
              </a:rPr>
              <a:t>The Parking management has become an important issue in busy places such as shopping malls, offices, universities, and public areas. When parking is managed manually, it can lead to several problems such as difficulty in tracking available parking slots, confusion in assigning slots to vehicles, and errors in calculating parking charges.</a:t>
            </a:r>
          </a:p>
          <a:p>
            <a:pPr algn="l"/>
            <a:endParaRPr lang="en-US" sz="1200">
              <a:ea typeface="+mn-lt"/>
              <a:cs typeface="+mn-lt"/>
            </a:endParaRPr>
          </a:p>
          <a:p>
            <a:pPr algn="l"/>
            <a:r>
              <a:rPr lang="en-US" sz="1200">
                <a:ea typeface="+mn-lt"/>
                <a:cs typeface="+mn-lt"/>
              </a:rPr>
              <a:t>Manual systems also make it hard to maintain proper records of vehicles entering and leaving the parking area. This can cause inefficiency and delay in managing parking operations.</a:t>
            </a:r>
            <a:endParaRPr lang="en-US"/>
          </a:p>
          <a:p>
            <a:pPr algn="l"/>
            <a:r>
              <a:rPr lang="en-US" sz="1200">
                <a:ea typeface="+mn-lt"/>
                <a:cs typeface="+mn-lt"/>
              </a:rPr>
              <a:t>To solve these problems, a </a:t>
            </a:r>
            <a:r>
              <a:rPr lang="en-US" sz="1200" b="1">
                <a:ea typeface="+mn-lt"/>
                <a:cs typeface="+mn-lt"/>
              </a:rPr>
              <a:t>Car Parking Management System</a:t>
            </a:r>
            <a:r>
              <a:rPr lang="en-US" sz="1200">
                <a:ea typeface="+mn-lt"/>
                <a:cs typeface="+mn-lt"/>
              </a:rPr>
              <a:t> is developed using the </a:t>
            </a:r>
            <a:r>
              <a:rPr lang="en-US" sz="1200" b="1">
                <a:ea typeface="+mn-lt"/>
                <a:cs typeface="+mn-lt"/>
              </a:rPr>
              <a:t>C++ programming language</a:t>
            </a:r>
            <a:r>
              <a:rPr lang="en-US" sz="1200">
                <a:ea typeface="+mn-lt"/>
                <a:cs typeface="+mn-lt"/>
              </a:rPr>
              <a:t>. The system automates the process of parking slot allocation, vehicle tracking, and parking fee calculation.</a:t>
            </a:r>
            <a:endParaRPr lang="en-US"/>
          </a:p>
          <a:p>
            <a:pPr algn="l"/>
            <a:endParaRPr lang="en-US" sz="1200">
              <a:ea typeface="+mn-lt"/>
              <a:cs typeface="+mn-lt"/>
            </a:endParaRPr>
          </a:p>
          <a:p>
            <a:pPr algn="l"/>
            <a:r>
              <a:rPr lang="en-US" sz="1200">
                <a:ea typeface="+mn-lt"/>
                <a:cs typeface="+mn-lt"/>
              </a:rPr>
              <a:t>The system aims to provide a simple and efficient solution that can:</a:t>
            </a:r>
            <a:endParaRPr lang="en-US"/>
          </a:p>
          <a:p>
            <a:pPr marL="285750" indent="-285750" algn="l">
              <a:buFont typeface="Arial"/>
              <a:buChar char="•"/>
            </a:pPr>
            <a:r>
              <a:rPr lang="en-US" sz="1200">
                <a:ea typeface="+mn-lt"/>
                <a:cs typeface="+mn-lt"/>
              </a:rPr>
              <a:t>Automatically allocate available parking slots</a:t>
            </a:r>
            <a:endParaRPr lang="en-US"/>
          </a:p>
          <a:p>
            <a:pPr marL="285750" indent="-285750" algn="l">
              <a:buFont typeface="Arial"/>
              <a:buChar char="•"/>
            </a:pPr>
            <a:r>
              <a:rPr lang="en-US" sz="1200">
                <a:ea typeface="+mn-lt"/>
                <a:cs typeface="+mn-lt"/>
              </a:rPr>
              <a:t>Keep track of vehicles entering the parking area</a:t>
            </a:r>
            <a:endParaRPr lang="en-US"/>
          </a:p>
          <a:p>
            <a:pPr marL="285750" indent="-285750" algn="l">
              <a:buFont typeface="Arial"/>
              <a:buChar char="•"/>
            </a:pPr>
            <a:r>
              <a:rPr lang="en-US" sz="1200">
                <a:ea typeface="+mn-lt"/>
                <a:cs typeface="+mn-lt"/>
              </a:rPr>
              <a:t>Record entry and exit time of vehicles</a:t>
            </a:r>
            <a:endParaRPr lang="en-US"/>
          </a:p>
          <a:p>
            <a:pPr marL="285750" indent="-285750" algn="l">
              <a:buFont typeface="Arial"/>
              <a:buChar char="•"/>
            </a:pPr>
            <a:r>
              <a:rPr lang="en-US" sz="1200">
                <a:ea typeface="+mn-lt"/>
                <a:cs typeface="+mn-lt"/>
              </a:rPr>
              <a:t>Calculate parking fees based on parking duration</a:t>
            </a:r>
            <a:endParaRPr lang="en-US"/>
          </a:p>
          <a:p>
            <a:pPr marL="285750" indent="-285750" algn="l">
              <a:buFont typeface="Arial"/>
              <a:buChar char="•"/>
            </a:pPr>
            <a:r>
              <a:rPr lang="en-US" sz="1200">
                <a:ea typeface="+mn-lt"/>
                <a:cs typeface="+mn-lt"/>
              </a:rPr>
              <a:t>Display the status of parking slots</a:t>
            </a:r>
            <a:endParaRPr lang="en-US"/>
          </a:p>
          <a:p>
            <a:pPr algn="l"/>
            <a:r>
              <a:rPr lang="en-US" sz="1200">
                <a:ea typeface="+mn-lt"/>
                <a:cs typeface="+mn-lt"/>
              </a:rPr>
              <a:t>This system helps in improving parking management and reducing manual work.</a:t>
            </a:r>
            <a:endParaRPr lang="en-US"/>
          </a:p>
          <a:p>
            <a:pPr algn="l"/>
            <a:endParaRPr lang="en-US" sz="1200"/>
          </a:p>
        </p:txBody>
      </p:sp>
    </p:spTree>
    <p:extLst>
      <p:ext uri="{BB962C8B-B14F-4D97-AF65-F5344CB8AC3E}">
        <p14:creationId xmlns:p14="http://schemas.microsoft.com/office/powerpoint/2010/main" val="31334639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11C434-1BB4-CDBE-6FA3-1158ECF469D6}"/>
              </a:ext>
            </a:extLst>
          </p:cNvPr>
          <p:cNvSpPr>
            <a:spLocks noGrp="1"/>
          </p:cNvSpPr>
          <p:nvPr>
            <p:ph type="title"/>
          </p:nvPr>
        </p:nvSpPr>
        <p:spPr>
          <a:xfrm>
            <a:off x="384725" y="117445"/>
            <a:ext cx="8225245" cy="384721"/>
          </a:xfrm>
        </p:spPr>
        <p:txBody>
          <a:bodyPr wrap="square" lIns="0" tIns="0" rIns="0" bIns="0" anchor="t">
            <a:spAutoFit/>
          </a:bodyPr>
          <a:lstStyle/>
          <a:p>
            <a:r>
              <a:rPr lang="en-US"/>
              <a:t>3. Working/Methods &amp; Algorithms.</a:t>
            </a:r>
          </a:p>
        </p:txBody>
      </p:sp>
      <p:sp>
        <p:nvSpPr>
          <p:cNvPr id="3" name="Text Placeholder 2">
            <a:extLst>
              <a:ext uri="{FF2B5EF4-FFF2-40B4-BE49-F238E27FC236}">
                <a16:creationId xmlns:a16="http://schemas.microsoft.com/office/drawing/2014/main" id="{2E4789F5-C8C6-DEA8-B8E7-5247AB54578D}"/>
              </a:ext>
            </a:extLst>
          </p:cNvPr>
          <p:cNvSpPr>
            <a:spLocks noGrp="1"/>
          </p:cNvSpPr>
          <p:nvPr>
            <p:ph type="body" idx="1"/>
          </p:nvPr>
        </p:nvSpPr>
        <p:spPr>
          <a:xfrm>
            <a:off x="457200" y="631916"/>
            <a:ext cx="6147708" cy="3385542"/>
          </a:xfrm>
        </p:spPr>
        <p:txBody>
          <a:bodyPr wrap="square" lIns="0" tIns="0" rIns="0" bIns="0" anchor="t">
            <a:spAutoFit/>
          </a:bodyPr>
          <a:lstStyle/>
          <a:p>
            <a:pPr algn="l"/>
            <a:r>
              <a:rPr lang="en-US" sz="1100">
                <a:ea typeface="+mn-lt"/>
                <a:cs typeface="+mn-lt"/>
              </a:rPr>
              <a:t>The Car Parking Management System works using a </a:t>
            </a:r>
            <a:r>
              <a:rPr lang="en-US" sz="1100" b="1">
                <a:ea typeface="+mn-lt"/>
                <a:cs typeface="+mn-lt"/>
              </a:rPr>
              <a:t>menu-driven program</a:t>
            </a:r>
            <a:r>
              <a:rPr lang="en-US" sz="1100">
                <a:ea typeface="+mn-lt"/>
                <a:cs typeface="+mn-lt"/>
              </a:rPr>
              <a:t>.</a:t>
            </a:r>
            <a:br>
              <a:rPr lang="en-US" sz="1100">
                <a:ea typeface="+mn-lt"/>
                <a:cs typeface="+mn-lt"/>
              </a:rPr>
            </a:br>
            <a:r>
              <a:rPr lang="en-US" sz="1100">
                <a:ea typeface="+mn-lt"/>
                <a:cs typeface="+mn-lt"/>
              </a:rPr>
              <a:t> When the program starts, the user can choose different operations from the menu.</a:t>
            </a:r>
            <a:endParaRPr lang="en-US"/>
          </a:p>
          <a:p>
            <a:pPr algn="l"/>
            <a:endParaRPr lang="en-US" sz="1100">
              <a:ea typeface="+mn-lt"/>
              <a:cs typeface="+mn-lt"/>
            </a:endParaRPr>
          </a:p>
          <a:p>
            <a:pPr algn="l"/>
            <a:r>
              <a:rPr lang="en-US" sz="1100" b="1">
                <a:ea typeface="+mn-lt"/>
                <a:cs typeface="+mn-lt"/>
              </a:rPr>
              <a:t>1</a:t>
            </a:r>
            <a:r>
              <a:rPr lang="en-US" sz="1100">
                <a:ea typeface="+mn-lt"/>
                <a:cs typeface="+mn-lt"/>
              </a:rPr>
              <a:t>. Park Vehicle</a:t>
            </a:r>
            <a:endParaRPr lang="en-US"/>
          </a:p>
          <a:p>
            <a:pPr marL="285750" indent="-285750" algn="l">
              <a:buFont typeface="Arial"/>
              <a:buChar char="•"/>
            </a:pPr>
            <a:r>
              <a:rPr lang="en-US" sz="1100">
                <a:ea typeface="+mn-lt"/>
                <a:cs typeface="+mn-lt"/>
              </a:rPr>
              <a:t>User enters vehicle number and parking hours.</a:t>
            </a:r>
            <a:endParaRPr lang="en-US"/>
          </a:p>
          <a:p>
            <a:pPr marL="285750" indent="-285750" algn="l">
              <a:buFont typeface="Arial"/>
              <a:buChar char="•"/>
            </a:pPr>
            <a:r>
              <a:rPr lang="en-US" sz="1100">
                <a:ea typeface="+mn-lt"/>
                <a:cs typeface="+mn-lt"/>
              </a:rPr>
              <a:t>System finds the first available parking slot.</a:t>
            </a:r>
            <a:endParaRPr lang="en-US"/>
          </a:p>
          <a:p>
            <a:pPr marL="285750" indent="-285750" algn="l">
              <a:buFont typeface="Arial"/>
              <a:buChar char="•"/>
            </a:pPr>
            <a:r>
              <a:rPr lang="en-US" sz="1100">
                <a:ea typeface="+mn-lt"/>
                <a:cs typeface="+mn-lt"/>
              </a:rPr>
              <a:t>Entry time is recorded automatically.</a:t>
            </a:r>
            <a:endParaRPr lang="en-US"/>
          </a:p>
          <a:p>
            <a:pPr marL="285750" indent="-285750" algn="l">
              <a:buFont typeface="Arial"/>
              <a:buChar char="•"/>
            </a:pPr>
            <a:r>
              <a:rPr lang="en-US" sz="1100">
                <a:ea typeface="+mn-lt"/>
                <a:cs typeface="+mn-lt"/>
              </a:rPr>
              <a:t>Parking fee is calculated based on hours.</a:t>
            </a:r>
            <a:endParaRPr lang="en-US"/>
          </a:p>
          <a:p>
            <a:pPr algn="l"/>
            <a:r>
              <a:rPr lang="en-US" sz="1100">
                <a:ea typeface="+mn-lt"/>
                <a:cs typeface="+mn-lt"/>
              </a:rPr>
              <a:t>2. Remove Vehicle</a:t>
            </a:r>
            <a:endParaRPr lang="en-US"/>
          </a:p>
          <a:p>
            <a:pPr marL="285750" indent="-285750" algn="l">
              <a:buFont typeface="Arial"/>
              <a:buChar char="•"/>
            </a:pPr>
            <a:r>
              <a:rPr lang="en-US" sz="1100">
                <a:ea typeface="+mn-lt"/>
                <a:cs typeface="+mn-lt"/>
              </a:rPr>
              <a:t>User enters vehicle number.</a:t>
            </a:r>
            <a:endParaRPr lang="en-US"/>
          </a:p>
          <a:p>
            <a:pPr marL="285750" indent="-285750" algn="l">
              <a:buFont typeface="Arial"/>
              <a:buChar char="•"/>
            </a:pPr>
            <a:r>
              <a:rPr lang="en-US" sz="1100">
                <a:ea typeface="+mn-lt"/>
                <a:cs typeface="+mn-lt"/>
              </a:rPr>
              <a:t>System searches the vehicle in the parking slots.</a:t>
            </a:r>
            <a:endParaRPr lang="en-US"/>
          </a:p>
          <a:p>
            <a:pPr marL="285750" indent="-285750" algn="l">
              <a:buFont typeface="Arial"/>
              <a:buChar char="•"/>
            </a:pPr>
            <a:r>
              <a:rPr lang="en-US" sz="1100">
                <a:ea typeface="+mn-lt"/>
                <a:cs typeface="+mn-lt"/>
              </a:rPr>
              <a:t>Slot is released and parking fee is displayed.</a:t>
            </a:r>
            <a:endParaRPr lang="en-US"/>
          </a:p>
          <a:p>
            <a:pPr marL="285750" indent="-285750" algn="l">
              <a:buFont typeface="Arial"/>
              <a:buChar char="•"/>
            </a:pPr>
            <a:r>
              <a:rPr lang="en-US" sz="1100">
                <a:ea typeface="+mn-lt"/>
                <a:cs typeface="+mn-lt"/>
              </a:rPr>
              <a:t>Exit time is also recorded.</a:t>
            </a:r>
            <a:endParaRPr lang="en-US"/>
          </a:p>
          <a:p>
            <a:pPr algn="l"/>
            <a:r>
              <a:rPr lang="en-US" sz="1100">
                <a:ea typeface="+mn-lt"/>
                <a:cs typeface="+mn-lt"/>
              </a:rPr>
              <a:t>3. View Slots</a:t>
            </a:r>
            <a:endParaRPr lang="en-US"/>
          </a:p>
          <a:p>
            <a:pPr marL="285750" indent="-285750" algn="l">
              <a:buFont typeface="Arial"/>
              <a:buChar char="•"/>
            </a:pPr>
            <a:r>
              <a:rPr lang="en-US" sz="1100">
                <a:ea typeface="+mn-lt"/>
                <a:cs typeface="+mn-lt"/>
              </a:rPr>
              <a:t>Displays all parking slots.</a:t>
            </a:r>
            <a:endParaRPr lang="en-US"/>
          </a:p>
          <a:p>
            <a:pPr marL="285750" indent="-285750" algn="l">
              <a:buFont typeface="Arial"/>
              <a:buChar char="•"/>
            </a:pPr>
            <a:r>
              <a:rPr lang="en-US" sz="1100">
                <a:ea typeface="+mn-lt"/>
                <a:cs typeface="+mn-lt"/>
              </a:rPr>
              <a:t>Shows whether each slot is occupied or available.</a:t>
            </a:r>
            <a:endParaRPr lang="en-US"/>
          </a:p>
          <a:p>
            <a:pPr algn="l"/>
            <a:r>
              <a:rPr lang="en-US" sz="1100">
                <a:ea typeface="+mn-lt"/>
                <a:cs typeface="+mn-lt"/>
              </a:rPr>
              <a:t>4. Search Vehicle</a:t>
            </a:r>
            <a:endParaRPr lang="en-US"/>
          </a:p>
          <a:p>
            <a:pPr marL="285750" indent="-285750" algn="l">
              <a:buFont typeface="Arial"/>
              <a:buChar char="•"/>
            </a:pPr>
            <a:r>
              <a:rPr lang="en-US" sz="1100">
                <a:ea typeface="+mn-lt"/>
                <a:cs typeface="+mn-lt"/>
              </a:rPr>
              <a:t>Finds the slot where a vehicle is parked.</a:t>
            </a:r>
            <a:endParaRPr lang="en-US"/>
          </a:p>
          <a:p>
            <a:pPr algn="l"/>
            <a:r>
              <a:rPr lang="en-US" sz="1100">
                <a:ea typeface="+mn-lt"/>
                <a:cs typeface="+mn-lt"/>
              </a:rPr>
              <a:t>Parking records are also stored in parking_records.txt using file handling.</a:t>
            </a:r>
            <a:endParaRPr lang="en-US"/>
          </a:p>
          <a:p>
            <a:pPr algn="l"/>
            <a:endParaRPr lang="en-US" sz="1100"/>
          </a:p>
        </p:txBody>
      </p:sp>
      <p:pic>
        <p:nvPicPr>
          <p:cNvPr id="4" name="Picture 3" descr="A screenshot of a computer program&#10;&#10;AI-generated content may be incorrect.">
            <a:extLst>
              <a:ext uri="{FF2B5EF4-FFF2-40B4-BE49-F238E27FC236}">
                <a16:creationId xmlns:a16="http://schemas.microsoft.com/office/drawing/2014/main" id="{63D8E749-54C0-710E-E3D6-75B76EBA0F1A}"/>
              </a:ext>
            </a:extLst>
          </p:cNvPr>
          <p:cNvPicPr>
            <a:picLocks noChangeAspect="1"/>
          </p:cNvPicPr>
          <p:nvPr/>
        </p:nvPicPr>
        <p:blipFill>
          <a:blip r:embed="rId2"/>
          <a:stretch>
            <a:fillRect/>
          </a:stretch>
        </p:blipFill>
        <p:spPr>
          <a:xfrm>
            <a:off x="4279257" y="1120848"/>
            <a:ext cx="4209417" cy="2410047"/>
          </a:xfrm>
          <a:prstGeom prst="rect">
            <a:avLst/>
          </a:prstGeom>
        </p:spPr>
      </p:pic>
    </p:spTree>
    <p:extLst>
      <p:ext uri="{BB962C8B-B14F-4D97-AF65-F5344CB8AC3E}">
        <p14:creationId xmlns:p14="http://schemas.microsoft.com/office/powerpoint/2010/main" val="10112332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9C625C-CED2-3065-F8A0-3A4BFFA32535}"/>
              </a:ext>
            </a:extLst>
          </p:cNvPr>
          <p:cNvSpPr>
            <a:spLocks noGrp="1"/>
          </p:cNvSpPr>
          <p:nvPr>
            <p:ph type="title"/>
          </p:nvPr>
        </p:nvSpPr>
        <p:spPr>
          <a:xfrm>
            <a:off x="384725" y="105198"/>
            <a:ext cx="8253819" cy="384721"/>
          </a:xfrm>
        </p:spPr>
        <p:txBody>
          <a:bodyPr wrap="square" lIns="0" tIns="0" rIns="0" bIns="0" anchor="t">
            <a:spAutoFit/>
          </a:bodyPr>
          <a:lstStyle/>
          <a:p>
            <a:r>
              <a:rPr lang="en-US"/>
              <a:t>4. Conclusion </a:t>
            </a:r>
          </a:p>
        </p:txBody>
      </p:sp>
      <p:sp>
        <p:nvSpPr>
          <p:cNvPr id="3" name="Text Placeholder 2">
            <a:extLst>
              <a:ext uri="{FF2B5EF4-FFF2-40B4-BE49-F238E27FC236}">
                <a16:creationId xmlns:a16="http://schemas.microsoft.com/office/drawing/2014/main" id="{90B9D793-E066-5E01-4DA1-C7773AF91C31}"/>
              </a:ext>
            </a:extLst>
          </p:cNvPr>
          <p:cNvSpPr>
            <a:spLocks noGrp="1"/>
          </p:cNvSpPr>
          <p:nvPr>
            <p:ph type="body" idx="1"/>
          </p:nvPr>
        </p:nvSpPr>
        <p:spPr>
          <a:xfrm>
            <a:off x="164805" y="711375"/>
            <a:ext cx="6100403" cy="2877711"/>
          </a:xfrm>
        </p:spPr>
        <p:txBody>
          <a:bodyPr wrap="square" lIns="0" tIns="0" rIns="0" bIns="0" anchor="t">
            <a:spAutoFit/>
          </a:bodyPr>
          <a:lstStyle/>
          <a:p>
            <a:pPr algn="l"/>
            <a:r>
              <a:rPr lang="en-US" sz="1600">
                <a:ea typeface="+mn-lt"/>
                <a:cs typeface="+mn-lt"/>
              </a:rPr>
              <a:t>The </a:t>
            </a:r>
            <a:r>
              <a:rPr lang="en-US" sz="1600" b="1">
                <a:ea typeface="+mn-lt"/>
                <a:cs typeface="+mn-lt"/>
              </a:rPr>
              <a:t>Car Parking Management System</a:t>
            </a:r>
            <a:r>
              <a:rPr lang="en-US" sz="1600">
                <a:ea typeface="+mn-lt"/>
                <a:cs typeface="+mn-lt"/>
              </a:rPr>
              <a:t> helps in managing parking slots in an organized and efficient way.</a:t>
            </a:r>
            <a:endParaRPr lang="en-US" sz="1600"/>
          </a:p>
          <a:p>
            <a:pPr algn="l"/>
            <a:r>
              <a:rPr lang="en-US" sz="1600">
                <a:ea typeface="+mn-lt"/>
                <a:cs typeface="+mn-lt"/>
              </a:rPr>
              <a:t>The system can:</a:t>
            </a:r>
            <a:endParaRPr lang="en-US" sz="1600"/>
          </a:p>
          <a:p>
            <a:pPr marL="285750" indent="-285750" algn="l">
              <a:buFont typeface="Arial"/>
              <a:buChar char="•"/>
            </a:pPr>
            <a:r>
              <a:rPr lang="en-US" sz="1600">
                <a:ea typeface="+mn-lt"/>
                <a:cs typeface="+mn-lt"/>
              </a:rPr>
              <a:t>Automatically allocate parking slots</a:t>
            </a:r>
            <a:endParaRPr lang="en-US" sz="1600"/>
          </a:p>
          <a:p>
            <a:pPr marL="285750" indent="-285750" algn="l">
              <a:buFont typeface="Arial"/>
              <a:buChar char="•"/>
            </a:pPr>
            <a:r>
              <a:rPr lang="en-US" sz="1600" dirty="0">
                <a:ea typeface="+mn-lt"/>
                <a:cs typeface="+mn-lt"/>
              </a:rPr>
              <a:t>Track vehicle entry and exit time</a:t>
            </a:r>
            <a:endParaRPr lang="en-US" sz="1600" dirty="0"/>
          </a:p>
          <a:p>
            <a:pPr marL="285750" indent="-285750" algn="l">
              <a:buFont typeface="Arial"/>
              <a:buChar char="•"/>
            </a:pPr>
            <a:r>
              <a:rPr lang="en-US" sz="1600" dirty="0">
                <a:ea typeface="+mn-lt"/>
                <a:cs typeface="+mn-lt"/>
              </a:rPr>
              <a:t>Calculate parking fees based on parking hours</a:t>
            </a:r>
            <a:endParaRPr lang="en-US" sz="1600" dirty="0"/>
          </a:p>
          <a:p>
            <a:pPr marL="285750" indent="-285750" algn="l">
              <a:buFont typeface="Arial"/>
              <a:buChar char="•"/>
            </a:pPr>
            <a:r>
              <a:rPr lang="en-US" sz="1600" dirty="0">
                <a:ea typeface="+mn-lt"/>
                <a:cs typeface="+mn-lt"/>
              </a:rPr>
              <a:t>Display parking slot availability</a:t>
            </a:r>
            <a:endParaRPr lang="en-US" sz="1600" dirty="0"/>
          </a:p>
          <a:p>
            <a:pPr marL="285750" indent="-285750" algn="l">
              <a:buFont typeface="Arial"/>
              <a:buChar char="•"/>
            </a:pPr>
            <a:r>
              <a:rPr lang="en-US" sz="1600" dirty="0">
                <a:ea typeface="+mn-lt"/>
                <a:cs typeface="+mn-lt"/>
              </a:rPr>
              <a:t>Search for parked vehicles</a:t>
            </a:r>
            <a:endParaRPr lang="en-US" sz="1600" dirty="0"/>
          </a:p>
          <a:p>
            <a:pPr algn="l"/>
            <a:r>
              <a:rPr lang="en-US" sz="1600" dirty="0">
                <a:ea typeface="+mn-lt"/>
                <a:cs typeface="+mn-lt"/>
              </a:rPr>
              <a:t>This project demonstrates the use of </a:t>
            </a:r>
            <a:r>
              <a:rPr lang="en-US" sz="1600" b="1" dirty="0">
                <a:ea typeface="+mn-lt"/>
                <a:cs typeface="+mn-lt"/>
              </a:rPr>
              <a:t>C++ programming, object-oriented concepts, time functions, and file handling</a:t>
            </a:r>
            <a:r>
              <a:rPr lang="en-US" sz="1600" dirty="0">
                <a:ea typeface="+mn-lt"/>
                <a:cs typeface="+mn-lt"/>
              </a:rPr>
              <a:t> to manage a real-world parking system.</a:t>
            </a:r>
            <a:endParaRPr lang="en-US" sz="1600" dirty="0"/>
          </a:p>
          <a:p>
            <a:endParaRPr lang="en-US" sz="1100"/>
          </a:p>
        </p:txBody>
      </p:sp>
    </p:spTree>
    <p:extLst>
      <p:ext uri="{BB962C8B-B14F-4D97-AF65-F5344CB8AC3E}">
        <p14:creationId xmlns:p14="http://schemas.microsoft.com/office/powerpoint/2010/main" val="35869292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667040" y="2892926"/>
            <a:ext cx="1809114" cy="452120"/>
          </a:xfrm>
          <a:prstGeom prst="rect">
            <a:avLst/>
          </a:prstGeom>
        </p:spPr>
        <p:txBody>
          <a:bodyPr vert="horz" wrap="square" lIns="0" tIns="12700" rIns="0" bIns="0" rtlCol="0">
            <a:spAutoFit/>
          </a:bodyPr>
          <a:lstStyle/>
          <a:p>
            <a:pPr marL="12700">
              <a:lnSpc>
                <a:spcPct val="100000"/>
              </a:lnSpc>
              <a:spcBef>
                <a:spcPts val="100"/>
              </a:spcBef>
            </a:pPr>
            <a:r>
              <a:rPr sz="2800" b="1">
                <a:solidFill>
                  <a:srgbClr val="FFFFFF"/>
                </a:solidFill>
                <a:latin typeface="Arial"/>
                <a:cs typeface="Arial"/>
              </a:rPr>
              <a:t>Thank</a:t>
            </a:r>
            <a:r>
              <a:rPr sz="2800" b="1" spc="-160">
                <a:solidFill>
                  <a:srgbClr val="FFFFFF"/>
                </a:solidFill>
                <a:latin typeface="Arial"/>
                <a:cs typeface="Arial"/>
              </a:rPr>
              <a:t> </a:t>
            </a:r>
            <a:r>
              <a:rPr sz="2800" b="1" spc="-30">
                <a:solidFill>
                  <a:srgbClr val="FFFFFF"/>
                </a:solidFill>
                <a:latin typeface="Arial"/>
                <a:cs typeface="Arial"/>
              </a:rPr>
              <a:t>You</a:t>
            </a:r>
            <a:endParaRPr sz="2800">
              <a:latin typeface="Arial"/>
              <a:cs typeface="Arial"/>
            </a:endParaRPr>
          </a:p>
        </p:txBody>
      </p:sp>
      <p:pic>
        <p:nvPicPr>
          <p:cNvPr id="3" name="object 3"/>
          <p:cNvPicPr/>
          <p:nvPr/>
        </p:nvPicPr>
        <p:blipFill>
          <a:blip r:embed="rId2" cstate="print"/>
          <a:stretch>
            <a:fillRect/>
          </a:stretch>
        </p:blipFill>
        <p:spPr>
          <a:xfrm>
            <a:off x="2662237" y="942350"/>
            <a:ext cx="3819524" cy="1200149"/>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Application>Microsoft Office PowerPoint</Application>
  <PresentationFormat>On-screen Show (16:9)</PresentationFormat>
  <Slides>6</Slides>
  <Notes>0</Notes>
  <HiddenSlides>0</HiddenSlides>
  <ScaleCrop>false</ScaleCrop>
  <HeadingPairs>
    <vt:vector size="4" baseType="variant">
      <vt:variant>
        <vt:lpstr>Theme</vt:lpstr>
      </vt:variant>
      <vt:variant>
        <vt:i4>1</vt:i4>
      </vt:variant>
      <vt:variant>
        <vt:lpstr>Slide Titles</vt:lpstr>
      </vt:variant>
      <vt:variant>
        <vt:i4>6</vt:i4>
      </vt:variant>
    </vt:vector>
  </HeadingPairs>
  <TitlesOfParts>
    <vt:vector size="7" baseType="lpstr">
      <vt:lpstr>Office Theme</vt:lpstr>
      <vt:lpstr>PowerPoint Presentation</vt:lpstr>
      <vt:lpstr>Problem Statement </vt:lpstr>
      <vt:lpstr>2. Solution </vt:lpstr>
      <vt:lpstr>3. Working/Methods &amp; Algorithms.</vt:lpstr>
      <vt:lpstr>4. Conclusion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Sample PPT</dc:title>
  <cp:revision>13</cp:revision>
  <dcterms:created xsi:type="dcterms:W3CDTF">2026-03-10T15:09:27Z</dcterms:created>
  <dcterms:modified xsi:type="dcterms:W3CDTF">2026-03-10T16:07:36Z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2026-03-10T00:00:00Z</vt:filetime>
  </property>
  <property fmtid="{D5CDD505-2E9C-101B-9397-08002B2CF9AE}" pid="3" name="Creator">
    <vt:lpwstr>Google</vt:lpwstr>
  </property>
  <property fmtid="{D5CDD505-2E9C-101B-9397-08002B2CF9AE}" pid="4" name="LastSaved">
    <vt:filetime>2026-03-10T00:00:00Z</vt:filetime>
  </property>
</Properties>
</file>